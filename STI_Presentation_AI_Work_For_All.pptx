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F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Making AI Work for 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A62B"/>
                </a:solidFill>
              </a:defRPr>
            </a:pPr>
            <a:r>
              <a:t>Not Repeating the Mistakes of Globalization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FFFFFF"/>
                </a:solidFill>
              </a:defRPr>
            </a:pPr>
            <a:r>
              <a:t>A Strategic Briefing for Policymakers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Singapore Training Institute of the IMF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3 December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5943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808080"/>
                </a:solidFill>
              </a:defRPr>
            </a:pPr>
            <a:r>
              <a:t>IMAGE: Singapore skyline at dusk or abstract AI visualization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Core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20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Will we manage AI's challenges better than we managed globalization?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We are facing a collapse in the cost of intelligence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Technology spreads instantly; prosperity does not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The Thesis: The central challenge is not the technology itself, but the adoption architecture required to convert disruption into shared prosperity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005F73"/>
                </a:solidFill>
              </a:defRPr>
            </a:pPr>
            <a:r>
              <a:t>Will we repeat the mistakes of the past, or write a new chapter?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808080"/>
                </a:solidFill>
              </a:defRPr>
            </a:pPr>
            <a:r>
              <a:t>IMAGE: Split image: Globalization protests on left, AI future on right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1. The Landscape: Why this time is different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   Speed, Cost, Agency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2. The Evidence: Live demonstrations of AI in policy workflows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3. The History: Lessons from Industrial Revolution &amp; IT Era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4. The Challenges: Stability, Labor, Explainability, Adoption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5. The Strategy: A framework for national adoption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808080"/>
                </a:solidFill>
              </a:defRPr>
            </a:pPr>
            <a:r>
              <a:t>IMAGE: Abstract timeline or roadmap graphic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Opening Provocation: The Ricardo Pivot (1821)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20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1817: David Ricardo argues machinery benefits everyone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1821: After seeing wages collapse, he changes his mind: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  "Machinery may be detrimental to the interests of the class of laborers"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Today: We have the benefit of hindsight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  Technology creates wealth, but policy determines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005F73"/>
                </a:solidFill>
              </a:defRPr>
            </a:pPr>
            <a:r>
              <a:t>Technology is inevitable. Inclusive growth is a choice.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808080"/>
                </a:solidFill>
              </a:defRPr>
            </a:pPr>
            <a:r>
              <a:t>IMAGE: Historical illustration of early industrial machinery or Ricardo portrait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Context: The Speed of Diffusion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Time to 100 Million Users: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Internet: 7 Years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Facebook: 4.5 Years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ChatGPT: 2 Months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Implication: The 'Policy Response Window' has collapsed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Traditional multi-year regulatory cycles cannot keep pace with monthly capability jumps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808080"/>
                </a:solidFill>
              </a:defRPr>
            </a:pPr>
            <a:r>
              <a:t>IMAGE: Bar chart showing adoption timelines - visually striking comparison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Context: The Collapse of Cognitive Costs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Zero Marginal Cost: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Cost of summarizing 100-page report: $100s (analyst) → $0.01 (compute)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Cognitive Automation: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For the first time, automation targets knowledge work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  Analysis, writing, coding - not just manual labor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The Shift: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From 'Tools' (Excel) to 'Agents' (Systems that plan and execute)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808080"/>
                </a:solidFill>
              </a:defRPr>
            </a:pPr>
            <a:r>
              <a:t>IMAGE: Cost curve dropping exponentially or brain/circuit hybrid image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Horizon Scan: Where Are We Going?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Horizon 1 (Now): Copilots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Human-in-the-loop | Augmentation | 20-40% productivity gain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Horizon 2 (2026+): Agents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Human-on-the-loop | Delegation | Workflow transformation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Horizon 3 (2028+): System Reshuffle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'Coordination without Consensus' | Dynamic automated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808080"/>
                </a:solidFill>
              </a:defRPr>
            </a:pPr>
            <a:r>
              <a:t>IMAGE: Three-stage timeline with icons: person+AI, person supervising AI, interconnected AI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A62B"/>
                </a:solidFill>
              </a:defRPr>
            </a:pPr>
            <a:r>
              <a:t>LIVE DEMONSTRATIONS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Seeing is Believing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FFFFFF"/>
                </a:solidFill>
              </a:defRPr>
            </a:pPr>
            <a:r>
              <a:t>AI is a reasoning engine, not a knowledge database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Demo 1: Policy Drafting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Task: Draft a briefing note on 'Healthcare Policy for Aging Population'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Prompt: 'Act as a senior policy analyst. Draft a briefing note on integrating AI into eldercare. Cover: Privacy risks, workforce augmentation, infrastructure needs.'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Result: A structured, nuanced draft in 30 seconds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Implication: The 'Blank Page Problem' is solved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Policymakers shift from writers to editors and strategic thinkers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808080"/>
                </a:solidFill>
              </a:defRPr>
            </a:pPr>
            <a:r>
              <a:t>IMAGE: Screenshot of AI generating policy document or before/after comparison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Demo 2: Synthesis at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Task: Analyze Public Consultation Feedback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Scenario: 500 emails from citizens on a new transport subsidy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Prompt: 'Analyze these consultation responses. Identify top 3 concerns, prevailing sentiment, suggest 2 mitigation strategies.'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Result: Instant thematic analysis of unstructured text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Implication: Democracy becomes more responsive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Process qualitative feedback at the scale of quantitative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808080"/>
                </a:solidFill>
              </a:defRPr>
            </a:pPr>
            <a:r>
              <a:t>IMAGE: Word cloud or sentiment analysis visualization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Demo 3: Red Teaming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Task: Stress-test a proposed regulation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Scenario: New policy to tax digital services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Prompt: 'You are the Opposition Leader. Red team this policy. Find loopholes, unintended consequences, implementation blind spots.'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Result: Rigorous, adversarial critique instantly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Implication: Stronger policy-making through 'AI Adversaries'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808080"/>
                </a:solidFill>
              </a:defRPr>
            </a:pPr>
            <a:r>
              <a:t>IMAGE: Chess pieces or debate/adversarial imagery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Historical Lesson 1: Engels' Pause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The Data (Industrial Revolution):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1780-1840: Productivity rose 46%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But wages rose only 12%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The Gap: 60 years for workers to feel the benefits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Why? Institutions lagged behind technology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Unions, Education, Safety Nets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Our Goal: Shorten the pause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808080"/>
                </a:solidFill>
              </a:defRPr>
            </a:pPr>
            <a:r>
              <a:t>IMAGE: Graph showing productivity vs wages divergence, or historical factory image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Historical Lesson 2: The Solow Paradox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"You can see the computer age everywhere but in the productivity statistics."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— Robert Solow, 1987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The Lesson: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Electrifying a steam factory didn't help until the workflow was redesigned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Application: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Paving cow paths (digitizing bad processes) yields zero gain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We must reimagine public services, not just add AI to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808080"/>
                </a:solidFill>
              </a:defRPr>
            </a:pPr>
            <a:r>
              <a:t>IMAGE: Factory floor evolution or computer in traditional office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A62B"/>
                </a:solidFill>
              </a:defRPr>
            </a:pPr>
            <a:r>
              <a:t>UNDERSTANDING TECHNOLOGICAL REVOLUTIONS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The Perez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FFFFFF"/>
                </a:solidFill>
              </a:defRPr>
            </a:pPr>
            <a:r>
              <a:t>Five Great Surges Since 1771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Perez Framework: Five Great Surges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1. Industrial Revolution (1771)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2. Age of Steam &amp; Railways (1829)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3. Age of Steel &amp; Electricity (1875)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4. Age of Oil, Automobiles &amp; Mass Production (1908)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5. Age of Information &amp; Telecommunications (1971)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The Claim: Each follows a remarkably similar pattern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Diffusion → Crisis → 'Golden Age'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AI (2022?): We may be witnessing the sixth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808080"/>
                </a:solidFill>
              </a:defRPr>
            </a:pPr>
            <a:r>
              <a:t>IMAGE: Timeline with icons for each revolution - visual history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Four Phases of a Revolution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1. Irruption (0-10 years)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   New technology emerges. Financial capital floods in.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2. Frenzy (10-20 years) ← WE ARE LIKELY HERE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   Speculation explodes. Infrastructure overbuilt.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3. Turning Point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   Bubble bursts. Regulatory reckoning begins.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4. Synergy/Deployment (20-40 years)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   Technology spreads broadly. 'Golden Ages' emerge.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808080"/>
                </a:solidFill>
              </a:defRPr>
            </a:pPr>
            <a:r>
              <a:t>IMAGE: S-curve or wave diagram with phases marked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Bubbles Are a Feature, Not a Bug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The Paradox: Bubbles are destructive, yet essential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The Function: Irrational exuberance mobilizes capital at scale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Railways wildly overbuilt in 1840s → but we got infrastructure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Fiber optics over-deployed in 1990s → but we got cheap bandwidth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AI data centers being built at unprecedented scale → ...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The Lesson: Not 'will there be a crash?'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But 'what infrastructure will remain when the music stops?'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808080"/>
                </a:solidFill>
              </a:defRPr>
            </a:pPr>
            <a:r>
              <a:t>IMAGE: Bubble imagery or infrastructure being built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Turning Point: What Happens Next?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The Crisis: Financial crashes (1847, 1929, 2000) mark the end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The Reckoning: Society demands regulation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Excesses of 'Gilded Ages' give way to reform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The Opportunity: This is when policy matters most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Institutional choices determine next 30 years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For AI: We have a narrow window to shape the framework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Before deployment locks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808080"/>
                </a:solidFill>
              </a:defRPr>
            </a:pPr>
            <a:r>
              <a:t>IMAGE: Crossroads or pivot point imagery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Challenge 1: Financial Stability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Systemic Risk &amp; Procyclicality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Herding: Same models → Same risks identified → Same reactions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The Result: Massive, synchronized market movements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The Perez Warning: In Frenzy phase, financial capital dominates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It seeks returns, not deployment. Prepare for correction.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Policy Action: Demand 'Model Diversity'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Stress-test for algorithmic correlation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808080"/>
                </a:solidFill>
              </a:defRPr>
            </a:pPr>
            <a:r>
              <a:t>IMAGE: Synchronized dominoes or herding visualization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A62B"/>
                </a:solidFill>
              </a:defRPr>
            </a:pPr>
            <a:r>
              <a:t>CHALLENGE 2: LABOR MARKETS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Jobs, Tasks, and the Dual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FFFFFF"/>
                </a:solidFill>
              </a:defRPr>
            </a:pPr>
            <a:r>
              <a:t>Displacement vs. Reinstatement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Dual Effect of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Displacement Effect: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Automation replaces labor in existing tasks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Reinstatement Effect: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New technology creates entirely new tasks and jobs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Historical Record: Both effects always occur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The question is timing and distribution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The AI Difference: First time automation targets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cognitive tasks at scale — analysis, writing, coding,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808080"/>
                </a:solidFill>
              </a:defRPr>
            </a:pPr>
            <a:r>
              <a:t>IMAGE: Balance scale or two-way arrows diagram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Thinking in Tasks, Not 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The Insight (Acemoglu &amp; Restrepo):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Jobs are bundles of tasks. Technology automates specific tasks.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Example — Policy Analyst: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Tasks automated: Literature review, first drafts, data summarization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Tasks augmented: Strategic synthesis, stakeholder judgment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Tasks created: Prompt engineering, AI oversight, algorithmic accountability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The Implication: Job persists, composition changes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Value shifts from execution to judgment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808080"/>
                </a:solidFill>
              </a:defRPr>
            </a:pPr>
            <a:r>
              <a:t>IMAGE: Job decomposed into task components - visual breakdown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Displacement Concern: Who Is Most Exposed?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Routine Cognitive Work: Rule-based, predictable, information-intensive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Back-office processing, basic legal research, financial analysis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Customer service, coding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The Skill Paradox: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AI affects middle and upper-middle of skill distribution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— precisely the jobs that absorbed displaced manufacturing workers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Geographic &amp; Demographic Concentration: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Displacement will not be evenly distributed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808080"/>
                </a:solidFill>
              </a:defRPr>
            </a:pPr>
            <a:r>
              <a:t>IMAGE: Skills distribution curve with exposure highlighted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Compensating Effects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Productivity Complementarity: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AI augments rather than replaces — 30-50% productivity gains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Cost Reduction → Demand Expansion: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Cheaper cognitive services = more access (legal, education, healthcare)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New Task Creation: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Every revolution creates unimaginable tasks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The Policy Lever: Reinstatement is not automatic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Requires investment in skills, institutions,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808080"/>
                </a:solidFill>
              </a:defRPr>
            </a:pPr>
            <a:r>
              <a:t>IMAGE: Growth/expansion imagery or new job roles emerging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Experience Trap: Cutting the Bottom Rungs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The Mechanism: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AI targets routine cognitive tasks — the tasks juniors use to learn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The Problem: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If AI writes first drafts and does basic analysis,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how do juniors develop tacit knowledge?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The Risk: High productivity today,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crisis of expertise in 5-10 years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Examples: Junior lawyers, analysts, doctors, accountants, engineers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808080"/>
                </a:solidFill>
              </a:defRPr>
            </a:pPr>
            <a:r>
              <a:t>IMAGE: Ladder with bottom rungs removed or pipeline drying up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Skills and Expertise in the AI 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What Becomes Valuable?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Tacit Knowledge: Judgment, intuition, pattern recognition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  Cannot be easily codified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Visible Expertise: Demonstrating why decisions were made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  Ethics, context, stakeholder understanding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Orchestration Skills: Managing AI systems, knowing when to trust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Learning Velocity: Ability to unlearn and relearn monthly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808080"/>
                </a:solidFill>
              </a:defRPr>
            </a:pPr>
            <a:r>
              <a:t>IMAGE: Human-AI collaboration or expertise pyramid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Rethinking Professional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The Old Model: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Learn fundamentals → Practice routine → Build to complexity (years)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The New Model: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Engage complexity early, AI handles routine execution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Juniors learn to evaluate and direct, not just execute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Institutional Response Required: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Restructure apprenticeship and training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Create 'AI-assisted learning' pathways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Measure outcomes (judgment, quality) not just throughput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808080"/>
                </a:solidFill>
              </a:defRPr>
            </a:pPr>
            <a:r>
              <a:t>IMAGE: New learning pathway or mentorship imagery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Challenge 3: The Black Box Dilemma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The Conflict: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Policy requires accountability and reason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AI operates on probability and pattern matching, not logic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The 'Explainability Trilemma':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Can usually only have two: Accuracy, Complexity, Explainability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High-performance models are often least explainable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The Risk: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'Computer says no' is not acceptable for denied benefits or licenses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808080"/>
                </a:solidFill>
              </a:defRPr>
            </a:pPr>
            <a:r>
              <a:t>IMAGE: Black box or neural network visualization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Operationalizing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From 'No' to 'Guardrails': Cannot wait for perfect explainability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Solutions: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Sandboxes: Safe spaces with error budgets for experimentation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'AI Verify': Testing frameworks (like Singapore's)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  Benchmark model behavior against safety standards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Human-Over-The-Loop: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  Critical decisions must have human accountable for 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808080"/>
                </a:solidFill>
              </a:defRPr>
            </a:pPr>
            <a:r>
              <a:t>IMAGE: Guardrails or safety framework diagram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Challenge 4: The 95% Pilot Trap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The Reality: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Easy to build a cool demo. Incredibly hard to move to production.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Why?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Data Quality: Real-world data is messy, siloed, unstructured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Legacy Systems: AI doesn't easily 'talk' to 1990s databases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Culture: Fear of replacement leads to resistance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808080"/>
                </a:solidFill>
              </a:defRPr>
            </a:pPr>
            <a:r>
              <a:t>IMAGE: Pilot to production gap or bridge imagery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Adoption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The 'Boring' Rails: Success depends on the unsexy stuff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Data Governance: Treat data as strategic asset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Procurement: Agile contracting, not 5-year waterfall tenders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Talent: Upskill broad civil service, not just hire PhDs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Key Takeaway: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You don't need more 'AI Strategy' documents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You need 'Implementation Playbooks'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808080"/>
                </a:solidFill>
              </a:defRPr>
            </a:pPr>
            <a:r>
              <a:t>IMAGE: Infrastructure or foundation building imagery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A62B"/>
                </a:solidFill>
              </a:defRPr>
            </a:pPr>
            <a:r>
              <a:t>THE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 Framework for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FFFFFF"/>
                </a:solidFill>
              </a:defRPr>
            </a:pPr>
            <a:r>
              <a:t>Three Pillars for National Success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Three Pillars for National 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1. Institutional Readiness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   Governance, Data, Talent — The Foundation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2. Strategic Use Cases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   Focus on Utility (Reporting, Services), not Magic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3. Ecosystem Collaboration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   Research + Government + Private Sector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   The Triple Helix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808080"/>
                </a:solidFill>
              </a:defRPr>
            </a:pPr>
            <a:r>
              <a:t>IMAGE: Three pillars or triple helix DNA structure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Governments Must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1. Fix the Adoption Architecture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   • Modernize procurement for agile AI projects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   • Establish data governance and sharing frameworks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   • Build AI literacy across civil service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2. Proactive Labor Market Policy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   • Redesign professional development pathways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   • Invest in reinstatement — new tasks, not just protecting old jobs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3. Whole-of-Government Collaboration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   • Shared infrastructure, common standards, coordinated risk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808080"/>
                </a:solidFill>
              </a:defRPr>
            </a:pPr>
            <a:r>
              <a:t>IMAGE: Government building or policy implementation visual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Organizations Must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1. Redesign Work, Not Just Add AI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   • Audit task composition of key roles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   • Create new roles for AI oversight, ethics, quality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2. Protect the Experience Pipeline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   • Restructure junior roles to preserve learning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   • Measure development outcomes, not just efficiency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3. Build Responsible Adoption Culture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   • Train all staff, not just specialists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   • Safe spaces for experimentation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808080"/>
                </a:solidFill>
              </a:defRPr>
            </a:pPr>
            <a:r>
              <a:t>IMAGE: Organizational transformation or team adaptation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Can I Do?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Personal Agency in the AI Transition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Become AI-Literate: You don't need to code, but understand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  capabilities and limitations. Use the tools. Build intuition.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Invest in Complementary Skills: Double down on what AI cannot do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  — judgment, ethics, relationships, context, creativity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Develop Learning Velocity: Tools change. Unlearn/relearn is the meta-skill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• Be a Bridge: Translate between technical possibility and operational reality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808080"/>
                </a:solidFill>
              </a:defRPr>
            </a:pPr>
            <a:r>
              <a:t>IMAGE: Individual growth or personal development imagery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Practical Steps This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1. Experiment: 30 minutes with AI on a real work task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   Draft a brief, analyze feedback, stress-test a proposal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2. Audit Your Role: Which tasks are routine cognitive?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   Which require judgment, context, relationships?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3. Have the Conversation: Talk to your team about AI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   Fears? Opportunities? Quick wins?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4. Champion Pilots: One low-risk, high-visibility use case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5. Stay Informed: Landscape changes monthly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808080"/>
                </a:solidFill>
              </a:defRPr>
            </a:pPr>
            <a:r>
              <a:t>IMAGE: Checklist or action steps visual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Individual's Dilemma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20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The Easy Path: Wait and see. Let others figure it out.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The Risk: Those who wait will find the transition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imposed on them, rather than shaped by them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The Alternative: Engage now, while technology is malleable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Your voice matters more in Installation than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005F73"/>
                </a:solidFill>
              </a:defRPr>
            </a:pPr>
            <a:r>
              <a:t>"In times of change, learners inherit the earth, while the learned find themselves beautifully equipped to deal with a world that no longer exists." — Eric Hoffer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808080"/>
                </a:solidFill>
              </a:defRPr>
            </a:pPr>
            <a:r>
              <a:t>IMAGE: Crossroads or choice imagery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Closing: Three Levels of Action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828800"/>
          <a:ext cx="103628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298"/>
                <a:gridCol w="3454298"/>
                <a:gridCol w="3454299"/>
              </a:tblGrid>
              <a:tr h="57150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Level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Key Action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529"/>
                          </a:solidFill>
                        </a:defRPr>
                      </a:pPr>
                      <a:r>
                        <a:t>Government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529"/>
                          </a:solidFill>
                        </a:defRPr>
                      </a:pPr>
                      <a:r>
                        <a:t>Fix adoption architecture (data, procurement, talent)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529"/>
                          </a:solidFill>
                        </a:defRPr>
                      </a:pPr>
                      <a:r>
                        <a:t>1-3 years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529"/>
                          </a:solidFill>
                        </a:defRPr>
                      </a:pPr>
                      <a:r>
                        <a:t>Organization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529"/>
                          </a:solidFill>
                        </a:defRPr>
                      </a:pPr>
                      <a:r>
                        <a:t>Redesign work; protect experience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529"/>
                          </a:solidFill>
                        </a:defRPr>
                      </a:pPr>
                      <a:r>
                        <a:t>6-18 months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529"/>
                          </a:solidFill>
                        </a:defRPr>
                      </a:pPr>
                      <a:r>
                        <a:t>Individual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529"/>
                          </a:solidFill>
                        </a:defRPr>
                      </a:pPr>
                      <a:r>
                        <a:t>Build AI literacy; invest in complementary skills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529"/>
                          </a:solidFill>
                        </a:defRPr>
                      </a:pPr>
                      <a:r>
                        <a:t>This week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5029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5F73"/>
                </a:solidFill>
              </a:defRPr>
            </a:pPr>
            <a:r>
              <a:t>Technology is inevitable. Inclusive growth is a choice. That choice starts with you.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FFFFFF"/>
                </a:solidFill>
              </a:defRPr>
            </a:pPr>
            <a:r>
              <a:t>"The AI future is unwritten. It is not determined by the algorithm, but by the institutions in this room—and the individuals who lead them."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62B"/>
                </a:solidFill>
              </a:defRPr>
            </a:pPr>
            <a:r>
              <a:t>Will we repeat the mistakes of globalization—fast diffusion, slow prosperity?</a:t>
            </a:r>
          </a:p>
          <a:p>
            <a:pPr algn="ctr">
              <a:defRPr sz="1800">
                <a:solidFill>
                  <a:srgbClr val="FFA62B"/>
                </a:solidFill>
              </a:defRPr>
            </a:pPr>
            <a:r>
              <a:t>Or will we build the adoption architecture for shared benefit?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The choice is made in every policy brief you write, every procurement you approve,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every junior you mentor, every conversation you have.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A62B"/>
                </a:solidFill>
              </a:defRPr>
            </a:pPr>
            <a:r>
              <a:t>What will you do Monday morning?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